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half"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itle 1"/>
          <p:cNvSpPr txBox="1"/>
          <p:nvPr>
            <p:ph type="ctrTitle"/>
          </p:nvPr>
        </p:nvSpPr>
        <p:spPr>
          <a:prstGeom prst="rect">
            <a:avLst/>
          </a:prstGeom>
        </p:spPr>
        <p:txBody>
          <a:bodyPr/>
          <a:lstStyle/>
          <a:p>
            <a:pPr/>
            <a:r>
              <a:t>AI-Powered Gym Management System</a:t>
            </a:r>
          </a:p>
        </p:txBody>
      </p:sp>
      <p:sp>
        <p:nvSpPr>
          <p:cNvPr id="95" name="Subtitle 2"/>
          <p:cNvSpPr txBox="1"/>
          <p:nvPr>
            <p:ph type="subTitle" sz="quarter" idx="1"/>
          </p:nvPr>
        </p:nvSpPr>
        <p:spPr>
          <a:prstGeom prst="rect">
            <a:avLst/>
          </a:prstGeom>
        </p:spPr>
        <p:txBody>
          <a:bodyPr/>
          <a:lstStyle>
            <a:lvl1pPr>
              <a:defRPr>
                <a:solidFill>
                  <a:srgbClr val="000000"/>
                </a:solidFill>
              </a:defRPr>
            </a:lvl1pPr>
          </a:lstStyle>
          <a:p>
            <a:pPr/>
            <a:r>
              <a:t>A SEP-Based Project Idea</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Title 1"/>
          <p:cNvSpPr txBox="1"/>
          <p:nvPr>
            <p:ph type="title"/>
          </p:nvPr>
        </p:nvSpPr>
        <p:spPr>
          <a:prstGeom prst="rect">
            <a:avLst/>
          </a:prstGeom>
        </p:spPr>
        <p:txBody>
          <a:bodyPr/>
          <a:lstStyle/>
          <a:p>
            <a:pPr/>
            <a:r>
              <a:t>Roles &amp; Responsibilities</a:t>
            </a:r>
          </a:p>
        </p:txBody>
      </p:sp>
      <p:sp>
        <p:nvSpPr>
          <p:cNvPr id="98" name="Content Placeholder 2"/>
          <p:cNvSpPr txBox="1"/>
          <p:nvPr>
            <p:ph type="body" idx="1"/>
          </p:nvPr>
        </p:nvSpPr>
        <p:spPr>
          <a:xfrm>
            <a:off x="457200" y="1600200"/>
            <a:ext cx="8229600" cy="4525963"/>
          </a:xfrm>
          <a:prstGeom prst="rect">
            <a:avLst/>
          </a:prstGeom>
        </p:spPr>
        <p:txBody>
          <a:bodyPr/>
          <a:lstStyle/>
          <a:p>
            <a:pPr>
              <a:spcBef>
                <a:spcPts val="500"/>
              </a:spcBef>
              <a:defRPr sz="2200"/>
            </a:pPr>
            <a:r>
              <a:t>1. Aayush Shah – Backend (Flask)</a:t>
            </a:r>
          </a:p>
          <a:p>
            <a:pPr>
              <a:spcBef>
                <a:spcPts val="500"/>
              </a:spcBef>
              <a:defRPr sz="2200"/>
            </a:pPr>
            <a:r>
              <a:t>2. Darpan Subedi – Testing, Documentation &amp; Presentation</a:t>
            </a:r>
          </a:p>
          <a:p>
            <a:pPr>
              <a:spcBef>
                <a:spcPts val="500"/>
              </a:spcBef>
              <a:defRPr sz="2200"/>
            </a:pPr>
            <a:r>
              <a:t>3. Riwaj Khadka – AI Recommendation Module</a:t>
            </a:r>
          </a:p>
          <a:p>
            <a:pPr>
              <a:spcBef>
                <a:spcPts val="500"/>
              </a:spcBef>
              <a:defRPr sz="2200"/>
            </a:pPr>
            <a:r>
              <a:t>4. Aayush Shah – Frontend UI</a:t>
            </a:r>
          </a:p>
          <a:p>
            <a:pPr>
              <a:spcBef>
                <a:spcPts val="500"/>
              </a:spcBef>
              <a:defRPr sz="2200"/>
            </a:pPr>
            <a:r>
              <a:t>5. Nauraj Khawas and Ankit Das – Database (MySQL)</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Title 1"/>
          <p:cNvSpPr txBox="1"/>
          <p:nvPr>
            <p:ph type="title"/>
          </p:nvPr>
        </p:nvSpPr>
        <p:spPr>
          <a:prstGeom prst="rect">
            <a:avLst/>
          </a:prstGeom>
        </p:spPr>
        <p:txBody>
          <a:bodyPr/>
          <a:lstStyle/>
          <a:p>
            <a:pPr/>
            <a:r>
              <a:t>Problem Statement</a:t>
            </a:r>
          </a:p>
        </p:txBody>
      </p:sp>
      <p:sp>
        <p:nvSpPr>
          <p:cNvPr id="101" name="Content Placeholder 2"/>
          <p:cNvSpPr txBox="1"/>
          <p:nvPr>
            <p:ph type="body" idx="1"/>
          </p:nvPr>
        </p:nvSpPr>
        <p:spPr>
          <a:xfrm>
            <a:off x="457199" y="1353303"/>
            <a:ext cx="8229601" cy="4525964"/>
          </a:xfrm>
          <a:prstGeom prst="rect">
            <a:avLst/>
          </a:prstGeom>
        </p:spPr>
        <p:txBody>
          <a:bodyPr/>
          <a:lstStyle/>
          <a:p>
            <a:pPr marL="0" indent="0" defTabSz="12700">
              <a:spcBef>
                <a:spcPts val="0"/>
              </a:spcBef>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r>
              <a:t>The fitness industry in our country Nepal has grown significantly in recent years. However, many gyms still rely on manual records, notebooks system or Microsoft Excel to manage their memberships, attendance, trainer assignments, and workout records.</a:t>
            </a:r>
          </a:p>
          <a:p>
            <a:pPr marL="120315" indent="-120315" defTabSz="12700">
              <a:spcBef>
                <a:spcPts val="0"/>
              </a:spcBef>
              <a:buFontTx/>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p>
          <a:p>
            <a:pPr marL="120315" indent="-120315" defTabSz="12700">
              <a:spcBef>
                <a:spcPts val="0"/>
              </a:spcBef>
              <a:buFontTx/>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r>
              <a:t>Problem:</a:t>
            </a:r>
          </a:p>
          <a:p>
            <a:pPr lvl="1" marL="501315" indent="-120315">
              <a:spcBef>
                <a:spcPts val="500"/>
              </a:spcBef>
              <a:buFontTx/>
              <a:buChar char="•"/>
              <a:defRPr sz="1600"/>
            </a:pPr>
            <a:r>
              <a:t> Lost records</a:t>
            </a:r>
          </a:p>
          <a:p>
            <a:pPr lvl="1" marL="501315" indent="-120315">
              <a:spcBef>
                <a:spcPts val="500"/>
              </a:spcBef>
              <a:buFontTx/>
              <a:buChar char="•"/>
              <a:defRPr sz="1600"/>
            </a:pPr>
            <a:r>
              <a:t> Attendance issues</a:t>
            </a:r>
          </a:p>
          <a:p>
            <a:pPr lvl="1" marL="501315" indent="-120315">
              <a:spcBef>
                <a:spcPts val="500"/>
              </a:spcBef>
              <a:buFontTx/>
              <a:buChar char="•"/>
              <a:defRPr sz="1600"/>
            </a:pPr>
            <a:r>
              <a:t> Membership renewal delays</a:t>
            </a:r>
          </a:p>
          <a:p>
            <a:pPr lvl="1" marL="501315" indent="-120315">
              <a:spcBef>
                <a:spcPts val="500"/>
              </a:spcBef>
              <a:buFontTx/>
              <a:buChar char="•"/>
              <a:defRPr sz="1600"/>
            </a:pPr>
            <a:r>
              <a:t> No personalized workout guidance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Title 1"/>
          <p:cNvSpPr txBox="1"/>
          <p:nvPr>
            <p:ph type="title"/>
          </p:nvPr>
        </p:nvSpPr>
        <p:spPr>
          <a:prstGeom prst="rect">
            <a:avLst/>
          </a:prstGeom>
        </p:spPr>
        <p:txBody>
          <a:bodyPr/>
          <a:lstStyle/>
          <a:p>
            <a:pPr/>
            <a:r>
              <a:t>Project Overview &amp; Objectives</a:t>
            </a:r>
          </a:p>
        </p:txBody>
      </p:sp>
      <p:sp>
        <p:nvSpPr>
          <p:cNvPr id="104" name="Content Placeholder 2"/>
          <p:cNvSpPr txBox="1"/>
          <p:nvPr>
            <p:ph type="body" idx="1"/>
          </p:nvPr>
        </p:nvSpPr>
        <p:spPr>
          <a:xfrm>
            <a:off x="457200" y="1600200"/>
            <a:ext cx="8229600" cy="4525963"/>
          </a:xfrm>
          <a:prstGeom prst="rect">
            <a:avLst/>
          </a:prstGeom>
        </p:spPr>
        <p:txBody>
          <a:bodyPr/>
          <a:lstStyle/>
          <a:p>
            <a:pPr marL="0" indent="0" defTabSz="12700">
              <a:spcBef>
                <a:spcPts val="0"/>
              </a:spcBef>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mj-lt"/>
                <a:ea typeface="+mj-ea"/>
                <a:cs typeface="+mj-cs"/>
                <a:sym typeface="Helvetica"/>
              </a:defRPr>
            </a:pPr>
            <a:r>
              <a:t>An AI-Powered Gym Management System, a web-based application that digitalized gym management while using Artificial Intelligence to recommend personalized workout plans based on member’s age, BMI, fitness goals, and experience level. This system will help gym owners improve efficiency while giving members a better fitness experience.</a:t>
            </a:r>
          </a:p>
          <a:p>
            <a:pPr marL="342900" indent="-342900">
              <a:spcBef>
                <a:spcPts val="500"/>
              </a:spcBef>
              <a:defRPr sz="1600"/>
            </a:pPr>
          </a:p>
          <a:p>
            <a:pPr marL="0" indent="0">
              <a:spcBef>
                <a:spcPts val="500"/>
              </a:spcBef>
              <a:buSzTx/>
              <a:buFontTx/>
              <a:buNone/>
              <a:defRPr sz="1600"/>
            </a:pPr>
            <a:r>
              <a:t>Objectives:</a:t>
            </a:r>
          </a:p>
          <a:p>
            <a:pPr lvl="1" marL="0" indent="228600">
              <a:spcBef>
                <a:spcPts val="500"/>
              </a:spcBef>
              <a:buSzTx/>
              <a:buFontTx/>
              <a:buNone/>
              <a:defRPr sz="1600"/>
            </a:pPr>
            <a:r>
              <a:t>• Digitize gym management</a:t>
            </a:r>
          </a:p>
          <a:p>
            <a:pPr lvl="1" marL="0" indent="228600">
              <a:spcBef>
                <a:spcPts val="500"/>
              </a:spcBef>
              <a:buSzTx/>
              <a:buFontTx/>
              <a:buNone/>
              <a:defRPr sz="1600"/>
            </a:pPr>
            <a:r>
              <a:t>• Secure MySQL database</a:t>
            </a:r>
          </a:p>
          <a:p>
            <a:pPr lvl="1" marL="0" indent="228600">
              <a:spcBef>
                <a:spcPts val="500"/>
              </a:spcBef>
              <a:buSzTx/>
              <a:buFontTx/>
              <a:buNone/>
              <a:defRPr sz="1600"/>
            </a:pPr>
            <a:r>
              <a:t>• Attendance, Memberships &amp; trainer management</a:t>
            </a:r>
          </a:p>
          <a:p>
            <a:pPr lvl="1" marL="0" indent="228600">
              <a:spcBef>
                <a:spcPts val="500"/>
              </a:spcBef>
              <a:buSzTx/>
              <a:buFontTx/>
              <a:buNone/>
              <a:defRPr sz="1600"/>
            </a:pPr>
            <a:r>
              <a:t>• AI workout recommendations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Title 1"/>
          <p:cNvSpPr txBox="1"/>
          <p:nvPr>
            <p:ph type="title"/>
          </p:nvPr>
        </p:nvSpPr>
        <p:spPr>
          <a:prstGeom prst="rect">
            <a:avLst/>
          </a:prstGeom>
        </p:spPr>
        <p:txBody>
          <a:bodyPr/>
          <a:lstStyle/>
          <a:p>
            <a:pPr/>
            <a:r>
              <a:t>Technologies</a:t>
            </a:r>
          </a:p>
        </p:txBody>
      </p:sp>
      <p:sp>
        <p:nvSpPr>
          <p:cNvPr id="107" name="Content Placeholder 2"/>
          <p:cNvSpPr txBox="1"/>
          <p:nvPr>
            <p:ph type="body" idx="1"/>
          </p:nvPr>
        </p:nvSpPr>
        <p:spPr>
          <a:xfrm>
            <a:off x="457200" y="1600200"/>
            <a:ext cx="8229600" cy="4525963"/>
          </a:xfrm>
          <a:prstGeom prst="rect">
            <a:avLst/>
          </a:prstGeom>
        </p:spPr>
        <p:txBody>
          <a:bodyPr/>
          <a:lstStyle/>
          <a:p>
            <a:pPr>
              <a:spcBef>
                <a:spcPts val="500"/>
              </a:spcBef>
              <a:defRPr sz="2200"/>
            </a:pPr>
            <a:r>
              <a:t>Frontend: HTML/CSS/JS</a:t>
            </a:r>
          </a:p>
          <a:p>
            <a:pPr>
              <a:spcBef>
                <a:spcPts val="500"/>
              </a:spcBef>
              <a:defRPr sz="2200"/>
            </a:pPr>
            <a:r>
              <a:t>Backend: Flask (Python)</a:t>
            </a:r>
          </a:p>
          <a:p>
            <a:pPr>
              <a:spcBef>
                <a:spcPts val="500"/>
              </a:spcBef>
              <a:defRPr sz="2200"/>
            </a:pPr>
            <a:r>
              <a:t>Database: MySQL</a:t>
            </a:r>
          </a:p>
          <a:p>
            <a:pPr>
              <a:spcBef>
                <a:spcPts val="500"/>
              </a:spcBef>
              <a:defRPr sz="2200"/>
            </a:pPr>
            <a:r>
              <a:t>AI: Rule-Based Recommendation</a:t>
            </a:r>
          </a:p>
          <a:p>
            <a:pPr>
              <a:spcBef>
                <a:spcPts val="500"/>
              </a:spcBef>
              <a:defRPr sz="2200"/>
            </a:pPr>
            <a:r>
              <a:t>Version Control: Git &amp; GitHub</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Title 1"/>
          <p:cNvSpPr txBox="1"/>
          <p:nvPr>
            <p:ph type="title"/>
          </p:nvPr>
        </p:nvSpPr>
        <p:spPr>
          <a:prstGeom prst="rect">
            <a:avLst/>
          </a:prstGeom>
        </p:spPr>
        <p:txBody>
          <a:bodyPr/>
          <a:lstStyle/>
          <a:p>
            <a:pPr/>
            <a:r>
              <a:t>Core Features</a:t>
            </a:r>
          </a:p>
        </p:txBody>
      </p:sp>
      <p:sp>
        <p:nvSpPr>
          <p:cNvPr id="110" name="Content Placeholder 2"/>
          <p:cNvSpPr txBox="1"/>
          <p:nvPr>
            <p:ph type="body" idx="1"/>
          </p:nvPr>
        </p:nvSpPr>
        <p:spPr>
          <a:xfrm>
            <a:off x="457200" y="1600200"/>
            <a:ext cx="8229600" cy="4525963"/>
          </a:xfrm>
          <a:prstGeom prst="rect">
            <a:avLst/>
          </a:prstGeom>
        </p:spPr>
        <p:txBody>
          <a:bodyPr/>
          <a:lstStyle/>
          <a:p>
            <a:pPr marL="0" indent="0">
              <a:spcBef>
                <a:spcPts val="500"/>
              </a:spcBef>
              <a:buSzTx/>
              <a:buFontTx/>
              <a:buNone/>
              <a:defRPr sz="2200"/>
            </a:pPr>
            <a:r>
              <a:t>• Authentication</a:t>
            </a:r>
          </a:p>
          <a:p>
            <a:pPr marL="0" indent="0">
              <a:spcBef>
                <a:spcPts val="500"/>
              </a:spcBef>
              <a:buSzTx/>
              <a:buFontTx/>
              <a:buNone/>
              <a:defRPr sz="2200"/>
            </a:pPr>
            <a:r>
              <a:t>• Member Management</a:t>
            </a:r>
          </a:p>
          <a:p>
            <a:pPr marL="0" indent="0">
              <a:spcBef>
                <a:spcPts val="500"/>
              </a:spcBef>
              <a:buSzTx/>
              <a:buFontTx/>
              <a:buNone/>
              <a:defRPr sz="2200"/>
            </a:pPr>
            <a:r>
              <a:t>• Attendance</a:t>
            </a:r>
          </a:p>
          <a:p>
            <a:pPr marL="0" indent="0">
              <a:spcBef>
                <a:spcPts val="500"/>
              </a:spcBef>
              <a:buSzTx/>
              <a:buFontTx/>
              <a:buNone/>
              <a:defRPr sz="2200"/>
            </a:pPr>
            <a:r>
              <a:t>• Trainer Management</a:t>
            </a:r>
          </a:p>
          <a:p>
            <a:pPr marL="0" indent="0">
              <a:spcBef>
                <a:spcPts val="500"/>
              </a:spcBef>
              <a:buSzTx/>
              <a:buFontTx/>
              <a:buNone/>
              <a:defRPr sz="2200"/>
            </a:pPr>
            <a:r>
              <a:t>• Dashboard &amp; Reports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Title 1"/>
          <p:cNvSpPr txBox="1"/>
          <p:nvPr>
            <p:ph type="title"/>
          </p:nvPr>
        </p:nvSpPr>
        <p:spPr>
          <a:prstGeom prst="rect">
            <a:avLst/>
          </a:prstGeom>
        </p:spPr>
        <p:txBody>
          <a:bodyPr/>
          <a:lstStyle/>
          <a:p>
            <a:pPr/>
            <a:r>
              <a:t>AI Recommendation</a:t>
            </a:r>
          </a:p>
        </p:txBody>
      </p:sp>
      <p:sp>
        <p:nvSpPr>
          <p:cNvPr id="113" name="Content Placeholder 2"/>
          <p:cNvSpPr txBox="1"/>
          <p:nvPr>
            <p:ph type="body" idx="1"/>
          </p:nvPr>
        </p:nvSpPr>
        <p:spPr>
          <a:xfrm>
            <a:off x="457200" y="1600200"/>
            <a:ext cx="8229600" cy="4525963"/>
          </a:xfrm>
          <a:prstGeom prst="rect">
            <a:avLst/>
          </a:prstGeom>
        </p:spPr>
        <p:txBody>
          <a:bodyPr/>
          <a:lstStyle/>
          <a:p>
            <a:pPr>
              <a:spcBef>
                <a:spcPts val="500"/>
              </a:spcBef>
              <a:defRPr sz="2200"/>
            </a:pPr>
            <a:r>
              <a:t>Inputs: Age, BMI, Goal, Experience</a:t>
            </a:r>
          </a:p>
          <a:p>
            <a:pPr>
              <a:spcBef>
                <a:spcPts val="500"/>
              </a:spcBef>
              <a:defRPr sz="2200"/>
            </a:pPr>
            <a:r>
              <a:t>Output: Personalized Workout Plan</a:t>
            </a:r>
          </a:p>
          <a:p>
            <a:pPr>
              <a:spcBef>
                <a:spcPts val="500"/>
              </a:spcBef>
              <a:defRPr sz="2200"/>
            </a:pPr>
            <a:r>
              <a:t>Rule-based AI suitable for first-year project.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Title 1"/>
          <p:cNvSpPr txBox="1"/>
          <p:nvPr>
            <p:ph type="title"/>
          </p:nvPr>
        </p:nvSpPr>
        <p:spPr>
          <a:prstGeom prst="rect">
            <a:avLst/>
          </a:prstGeom>
        </p:spPr>
        <p:txBody>
          <a:bodyPr/>
          <a:lstStyle/>
          <a:p>
            <a:pPr/>
            <a:r>
              <a:t>Expected Outcomes</a:t>
            </a:r>
          </a:p>
        </p:txBody>
      </p:sp>
      <p:sp>
        <p:nvSpPr>
          <p:cNvPr id="116" name="Content Placeholder 2"/>
          <p:cNvSpPr txBox="1"/>
          <p:nvPr>
            <p:ph type="body" idx="1"/>
          </p:nvPr>
        </p:nvSpPr>
        <p:spPr>
          <a:xfrm>
            <a:off x="457200" y="1600200"/>
            <a:ext cx="8229600" cy="4525963"/>
          </a:xfrm>
          <a:prstGeom prst="rect">
            <a:avLst/>
          </a:prstGeom>
        </p:spPr>
        <p:txBody>
          <a:bodyPr/>
          <a:lstStyle/>
          <a:p>
            <a:pPr marL="0" indent="0">
              <a:spcBef>
                <a:spcPts val="500"/>
              </a:spcBef>
              <a:buSzTx/>
              <a:buFontTx/>
              <a:buNone/>
              <a:defRPr sz="2200"/>
            </a:pPr>
            <a:r>
              <a:t>• Working web application</a:t>
            </a:r>
          </a:p>
          <a:p>
            <a:pPr marL="0" indent="0">
              <a:spcBef>
                <a:spcPts val="500"/>
              </a:spcBef>
              <a:buSzTx/>
              <a:buFontTx/>
              <a:buNone/>
              <a:defRPr sz="2200"/>
            </a:pPr>
            <a:r>
              <a:t>• Secure database</a:t>
            </a:r>
          </a:p>
          <a:p>
            <a:pPr marL="0" indent="0">
              <a:spcBef>
                <a:spcPts val="500"/>
              </a:spcBef>
              <a:buSzTx/>
              <a:buFontTx/>
              <a:buNone/>
              <a:defRPr sz="2200"/>
            </a:pPr>
            <a:r>
              <a:t>• AI recommendation module</a:t>
            </a:r>
          </a:p>
          <a:p>
            <a:pPr marL="0" indent="0">
              <a:spcBef>
                <a:spcPts val="500"/>
              </a:spcBef>
              <a:buSzTx/>
              <a:buFontTx/>
              <a:buNone/>
              <a:defRPr sz="2200"/>
            </a:pPr>
            <a:r>
              <a:t>• Suitable for gyms in Nepal</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hank You!!"/>
          <p:cNvSpPr txBox="1"/>
          <p:nvPr>
            <p:ph type="ctrTitle"/>
          </p:nvPr>
        </p:nvSpPr>
        <p:spPr>
          <a:prstGeom prst="rect">
            <a:avLst/>
          </a:prstGeom>
        </p:spPr>
        <p:txBody>
          <a:bodyPr/>
          <a:lstStyle/>
          <a:p>
            <a:pPr/>
            <a:r>
              <a:t>Thank You!!</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